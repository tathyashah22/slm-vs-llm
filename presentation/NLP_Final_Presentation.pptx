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/>
    <p:restoredTop sz="94637"/>
  </p:normalViewPr>
  <p:slideViewPr>
    <p:cSldViewPr snapToGrid="0" snapToObjects="1">
      <p:cViewPr>
        <p:scale>
          <a:sx n="65" d="100"/>
          <a:sy n="65" d="100"/>
        </p:scale>
        <p:origin x="-104" y="10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320040" cy="6583680"/>
          </a:xfrm>
          <a:prstGeom prst="rect">
            <a:avLst/>
          </a:prstGeom>
          <a:solidFill>
            <a:srgbClr val="02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SLMs vs LLMs: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0A896"/>
                </a:solidFill>
                <a:latin typeface="Calibri"/>
              </a:rPr>
              <a:t>The Data Efficiency Breakpoint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8229600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AE8"/>
                </a:solidFill>
                <a:latin typeface="Calibri"/>
              </a:rPr>
              <a:t>When Does Fine-Tuning a Small Model Beat Few-Shot Prompting a Large One?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B8CC"/>
                </a:solidFill>
                <a:latin typeface="Calibri"/>
              </a:rPr>
              <a:t>Tathya Shah (tts49)   ·   Dev Shah (djs525)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Rutgers University  ·  NLP Final Project  ·  Spring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234B"/>
                </a:solidFill>
                <a:latin typeface="Calibr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" cy="228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005839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96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3154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39"/>
            <a:ext cx="3154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The core NLP trade-off: big &amp; smart vs. small &amp; efficient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8686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868680"/>
            <a:ext cx="109728" cy="228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7407" y="1005839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96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7" y="1463040"/>
            <a:ext cx="3154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The 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1920239"/>
            <a:ext cx="3154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GoEmotions, AG News, SNLI, CoLA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8686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868680"/>
            <a:ext cx="109728" cy="228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005839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96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463040"/>
            <a:ext cx="3154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The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920239"/>
            <a:ext cx="3154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Mistral-7B (Goliath) vs. DistilBERT (David)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832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109728" cy="228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520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96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977640"/>
            <a:ext cx="3154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Experiments &amp; 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434840"/>
            <a:ext cx="3154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Pipelines, training, evaluation protocols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3832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06240" y="3383280"/>
            <a:ext cx="109728" cy="228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7407" y="3520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96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3977640"/>
            <a:ext cx="3154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7" y="4434840"/>
            <a:ext cx="3154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Data Efficiency Curves &amp; Breakeven Points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33832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79" y="3383280"/>
            <a:ext cx="109728" cy="2286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56448" y="3520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896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977640"/>
            <a:ext cx="3154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4434840"/>
            <a:ext cx="31546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Findings, limitations,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Core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029200" cy="4114800"/>
          </a:xfrm>
          <a:prstGeom prst="rect">
            <a:avLst/>
          </a:prstGeom>
          <a:solidFill>
            <a:srgbClr val="1C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  LARGE LANGUAGE MODELS (LLMs)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D0E0F0"/>
                </a:solidFill>
                <a:latin typeface="Calibri"/>
              </a:rPr>
              <a:t>✓  Remarkably smart out-of-the-box</a:t>
            </a:r>
          </a:p>
          <a:p>
            <a:pPr algn="l"/>
            <a:r>
              <a:rPr sz="1400" b="0" dirty="0">
                <a:solidFill>
                  <a:srgbClr val="D0E0F0"/>
                </a:solidFill>
                <a:latin typeface="Calibri"/>
              </a:rPr>
              <a:t>✓  Learn new tasks with just a few examples</a:t>
            </a:r>
          </a:p>
          <a:p>
            <a:pPr algn="l"/>
            <a:r>
              <a:rPr sz="1400" b="0" dirty="0">
                <a:solidFill>
                  <a:srgbClr val="D0E0F0"/>
                </a:solidFill>
                <a:latin typeface="Calibri"/>
              </a:rPr>
              <a:t>✓  No labeled training data needed</a:t>
            </a:r>
          </a:p>
          <a:p>
            <a:pPr algn="l"/>
            <a:endParaRPr sz="1400" b="0" dirty="0">
              <a:solidFill>
                <a:srgbClr val="D0E0F0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D0E0F0"/>
                </a:solidFill>
                <a:latin typeface="Calibri"/>
              </a:rPr>
              <a:t>✗  Computationally expensive</a:t>
            </a:r>
          </a:p>
          <a:p>
            <a:pPr algn="l"/>
            <a:r>
              <a:rPr sz="1400" b="0" dirty="0">
                <a:solidFill>
                  <a:srgbClr val="D0E0F0"/>
                </a:solidFill>
                <a:latin typeface="Calibri"/>
              </a:rPr>
              <a:t>✗  Slow at inference in production</a:t>
            </a:r>
          </a:p>
          <a:p>
            <a:pPr algn="l"/>
            <a:r>
              <a:rPr sz="1400" b="0" dirty="0">
                <a:solidFill>
                  <a:srgbClr val="D0E0F0"/>
                </a:solidFill>
                <a:latin typeface="Calibri"/>
              </a:rPr>
              <a:t>✗  High cost per query</a:t>
            </a:r>
          </a:p>
          <a:p>
            <a:pPr algn="l"/>
            <a:endParaRPr sz="1400" b="0" dirty="0">
              <a:solidFill>
                <a:srgbClr val="D0E0F0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D0E0F0"/>
                </a:solidFill>
                <a:latin typeface="Calibri"/>
              </a:rPr>
              <a:t>Example: Mistral-7B  (7 billion parameters)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5029200" cy="4114800"/>
          </a:xfrm>
          <a:prstGeom prst="rect">
            <a:avLst/>
          </a:prstGeom>
          <a:solidFill>
            <a:srgbClr val="013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389888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  SMALL LANGUAGE MODELS (SLMs)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E8E0"/>
                </a:solidFill>
                <a:latin typeface="Calibri"/>
              </a:rPr>
              <a:t>✓  Lean, fast, and highly efficient</a:t>
            </a:r>
          </a:p>
          <a:p>
            <a:pPr algn="l"/>
            <a:r>
              <a:rPr sz="1400" b="0">
                <a:solidFill>
                  <a:srgbClr val="B0E8E0"/>
                </a:solidFill>
                <a:latin typeface="Calibri"/>
              </a:rPr>
              <a:t>✓  Cheap to deploy at scale</a:t>
            </a:r>
          </a:p>
          <a:p>
            <a:pPr algn="l"/>
            <a:r>
              <a:rPr sz="1400" b="0">
                <a:solidFill>
                  <a:srgbClr val="B0E8E0"/>
                </a:solidFill>
                <a:latin typeface="Calibri"/>
              </a:rPr>
              <a:t>✓  Updatable with task-specific data</a:t>
            </a:r>
          </a:p>
          <a:p>
            <a:pPr algn="l"/>
            <a:endParaRPr sz="1400" b="0">
              <a:solidFill>
                <a:srgbClr val="B0E8E0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B0E8E0"/>
                </a:solidFill>
                <a:latin typeface="Calibri"/>
              </a:rPr>
              <a:t>✗  Data-hungry — need labeled examples</a:t>
            </a:r>
          </a:p>
          <a:p>
            <a:pPr algn="l"/>
            <a:r>
              <a:rPr sz="1400" b="0">
                <a:solidFill>
                  <a:srgbClr val="B0E8E0"/>
                </a:solidFill>
                <a:latin typeface="Calibri"/>
              </a:rPr>
              <a:t>✗  Poor zero-shot generalization</a:t>
            </a:r>
          </a:p>
          <a:p>
            <a:pPr algn="l"/>
            <a:r>
              <a:rPr sz="1400" b="0">
                <a:solidFill>
                  <a:srgbClr val="B0E8E0"/>
                </a:solidFill>
                <a:latin typeface="Calibri"/>
              </a:rPr>
              <a:t>✗  Require fine-tuning investment</a:t>
            </a:r>
          </a:p>
          <a:p>
            <a:pPr algn="l"/>
            <a:endParaRPr sz="1400" b="0">
              <a:solidFill>
                <a:srgbClr val="B0E8E0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B0E8E0"/>
                </a:solidFill>
                <a:latin typeface="Calibri"/>
              </a:rPr>
              <a:t>Example: DistilBERT (~66M parameters)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2560320"/>
            <a:ext cx="640080" cy="6400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3560" y="25786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  <a:latin typeface="Calibri"/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669280"/>
            <a:ext cx="11155680" cy="8229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715000"/>
            <a:ext cx="10972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Calibri"/>
              </a:rPr>
              <a:t>❓  At what point does it become worth it to invest in labeled data for a </a:t>
            </a:r>
            <a:r>
              <a:rPr lang="en-US" sz="1400" b="1" i="0" dirty="0">
                <a:solidFill>
                  <a:srgbClr val="1E293B"/>
                </a:solidFill>
                <a:latin typeface="Calibri"/>
              </a:rPr>
              <a:t>SLM </a:t>
            </a:r>
            <a:r>
              <a:rPr sz="1400" b="1" i="0" dirty="0">
                <a:solidFill>
                  <a:srgbClr val="1E293B"/>
                </a:solidFill>
                <a:latin typeface="Calibri"/>
              </a:rPr>
              <a:t>rather than paying to run a </a:t>
            </a:r>
            <a:r>
              <a:rPr lang="en-US" sz="1400" b="1" dirty="0">
                <a:solidFill>
                  <a:srgbClr val="1E293B"/>
                </a:solidFill>
                <a:latin typeface="Calibri"/>
              </a:rPr>
              <a:t>LLM</a:t>
            </a:r>
            <a:r>
              <a:rPr sz="1400" b="1" i="0" dirty="0">
                <a:solidFill>
                  <a:srgbClr val="1E293B"/>
                </a:solidFill>
                <a:latin typeface="Calibri"/>
              </a:rPr>
              <a:t>?</a:t>
            </a:r>
            <a:endParaRPr lang="en-US" sz="1400" b="1" i="0" dirty="0">
              <a:solidFill>
                <a:srgbClr val="1E293B"/>
              </a:solidFill>
              <a:latin typeface="Calibri"/>
            </a:endParaRPr>
          </a:p>
          <a:p>
            <a:r>
              <a:rPr lang="en-US" sz="1400" b="1" i="0" dirty="0">
                <a:solidFill>
                  <a:srgbClr val="1E293B"/>
                </a:solidFill>
                <a:latin typeface="Calibri"/>
              </a:rPr>
              <a:t>Currently, researchers and developers lack a precise map to navigate this trade-off. We do not know the exact "Breakeven Point” -  the point where the specific volume of training data at which the efficiency of a fine-tuned SLM finally overtakes the raw power of a few-shot LLM.</a:t>
            </a:r>
          </a:p>
          <a:p>
            <a:br>
              <a:rPr lang="en-US" sz="1400" b="1" i="0" dirty="0">
                <a:solidFill>
                  <a:srgbClr val="1E293B"/>
                </a:solidFill>
                <a:latin typeface="Calibri"/>
              </a:rPr>
            </a:br>
            <a:endParaRPr sz="1400" b="1" i="0" dirty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0234B"/>
                </a:solidFill>
                <a:latin typeface="Calibri"/>
              </a:rPr>
              <a:t>The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8872" cy="23774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🎭  GoEmotions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Emotion Classification (Primary)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Size: 58K Reddit comments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Labels: 12 of 27 emotion classes</a:t>
            </a:r>
            <a:endParaRPr lang="en-US" sz="1200" b="0" i="0" dirty="0">
              <a:solidFill>
                <a:srgbClr val="64748B"/>
              </a:solidFill>
              <a:latin typeface="Calibri"/>
            </a:endParaRPr>
          </a:p>
          <a:p>
            <a:pPr algn="l"/>
            <a:r>
              <a:rPr lang="en-US" sz="1200" dirty="0">
                <a:solidFill>
                  <a:srgbClr val="64748B"/>
                </a:solidFill>
                <a:latin typeface="Calibri"/>
              </a:rPr>
              <a:t>Picked 12 to make the results more manageable and ensure a focused experiment for interpretation and robustness</a:t>
            </a:r>
            <a:endParaRPr sz="12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118872" cy="2377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441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📰  AG News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Topic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Size: 120K news articles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60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Labels: 4 classes: World, Sports, Business, Sci/Tech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18872" cy="2377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9502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🧩  SNLI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Natural Language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Size: 570K sentence pairs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66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Labels: 3 classes: Entailment, Neutral, Contradiction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84048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0" y="3840480"/>
            <a:ext cx="118872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9502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✏️  CoLA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Grammatical Acceptability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Size: 10,657 sentences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166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Labels: Binary: Acceptable vs. Unacceptable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  MISTRAL-7B  —  THE GOLIATH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A825"/>
                </a:solidFill>
                <a:latin typeface="Calibri"/>
              </a:rPr>
              <a:t>The Few-Shot Powerhouse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50292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C8D8F0"/>
                </a:solidFill>
                <a:latin typeface="Calibri"/>
              </a:rPr>
              <a:t>Model Type:   </a:t>
            </a:r>
            <a:r>
              <a:rPr lang="en-US" sz="1300" b="0" dirty="0">
                <a:solidFill>
                  <a:srgbClr val="C8D8F0"/>
                </a:solidFill>
                <a:latin typeface="Calibri"/>
              </a:rPr>
              <a:t>LLM</a:t>
            </a:r>
            <a:endParaRPr sz="1300" b="0" dirty="0">
              <a:solidFill>
                <a:srgbClr val="C8D8F0"/>
              </a:solidFill>
              <a:latin typeface="Calibri"/>
            </a:endParaRPr>
          </a:p>
          <a:p>
            <a:pPr algn="l"/>
            <a:r>
              <a:rPr sz="1300" b="0" dirty="0">
                <a:solidFill>
                  <a:srgbClr val="C8D8F0"/>
                </a:solidFill>
                <a:latin typeface="Calibri"/>
              </a:rPr>
              <a:t>Scale:              7 Billion Parameters</a:t>
            </a:r>
          </a:p>
          <a:p>
            <a:pPr algn="l"/>
            <a:r>
              <a:rPr sz="1300" b="0" dirty="0">
                <a:solidFill>
                  <a:srgbClr val="C8D8F0"/>
                </a:solidFill>
                <a:latin typeface="Calibri"/>
              </a:rPr>
              <a:t>Task Approach:  In-Context Learning</a:t>
            </a:r>
          </a:p>
          <a:p>
            <a:pPr algn="l"/>
            <a:endParaRPr sz="1300" b="0" dirty="0">
              <a:solidFill>
                <a:srgbClr val="C8D8F0"/>
              </a:solidFill>
              <a:latin typeface="Calibri"/>
            </a:endParaRPr>
          </a:p>
          <a:p>
            <a:pPr algn="l"/>
            <a:r>
              <a:rPr sz="1300" b="0" dirty="0">
                <a:solidFill>
                  <a:srgbClr val="C8D8F0"/>
                </a:solidFill>
                <a:latin typeface="Calibri"/>
              </a:rPr>
              <a:t>Given k examples in the prompt →</a:t>
            </a:r>
          </a:p>
          <a:p>
            <a:r>
              <a:rPr sz="1300" b="0" dirty="0">
                <a:solidFill>
                  <a:srgbClr val="C8D8F0"/>
                </a:solidFill>
                <a:latin typeface="Calibri"/>
              </a:rPr>
              <a:t>classifies without any weight updates</a:t>
            </a:r>
            <a:r>
              <a:rPr lang="en-US" sz="1300" b="0" dirty="0">
                <a:solidFill>
                  <a:srgbClr val="C8D8F0"/>
                </a:solidFill>
                <a:latin typeface="Calibri"/>
              </a:rPr>
              <a:t>. Using in-context learning, it learns tasks via prompt examples (k-shots) without updating underlying weights.</a:t>
            </a:r>
            <a:endParaRPr sz="1300" b="0" dirty="0">
              <a:solidFill>
                <a:srgbClr val="C8D8F0"/>
              </a:solidFill>
              <a:latin typeface="Calibri"/>
            </a:endParaRPr>
          </a:p>
          <a:p>
            <a:pPr algn="l"/>
            <a:endParaRPr sz="1300" b="0" dirty="0">
              <a:solidFill>
                <a:srgbClr val="C8D8F0"/>
              </a:solidFill>
              <a:latin typeface="Calibri"/>
            </a:endParaRPr>
          </a:p>
          <a:p>
            <a:pPr algn="l"/>
            <a:r>
              <a:rPr sz="1300" b="0" dirty="0">
                <a:solidFill>
                  <a:srgbClr val="C8D8F0"/>
                </a:solidFill>
                <a:latin typeface="Calibri"/>
              </a:rPr>
              <a:t>Evaluated across k ∈ {12, 24, 36, 48, 60, 96}</a:t>
            </a:r>
          </a:p>
          <a:p>
            <a:pPr algn="l"/>
            <a:r>
              <a:rPr sz="1300" b="0" dirty="0">
                <a:solidFill>
                  <a:srgbClr val="C8D8F0"/>
                </a:solidFill>
                <a:latin typeface="Calibri"/>
              </a:rPr>
              <a:t>shot examples, averaged over 4 random trials</a:t>
            </a:r>
          </a:p>
          <a:p>
            <a:pPr algn="l"/>
            <a:r>
              <a:rPr sz="1300" b="0" dirty="0">
                <a:solidFill>
                  <a:srgbClr val="C8D8F0"/>
                </a:solidFill>
                <a:latin typeface="Calibri"/>
              </a:rPr>
              <a:t>to mitigate sensitivity to prompt selection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280160"/>
            <a:ext cx="5303520" cy="5120640"/>
          </a:xfrm>
          <a:prstGeom prst="rect">
            <a:avLst/>
          </a:prstGeom>
          <a:solidFill>
            <a:srgbClr val="01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280160"/>
            <a:ext cx="5303520" cy="502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29844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  DISTILBERT  —  THE DAVID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The Efficient Specialist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286000"/>
            <a:ext cx="50292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A0E0D8"/>
                </a:solidFill>
                <a:latin typeface="Calibri"/>
              </a:rPr>
              <a:t>Model Type:   </a:t>
            </a:r>
            <a:r>
              <a:rPr lang="en-US" sz="1300" b="0" dirty="0">
                <a:solidFill>
                  <a:srgbClr val="A0E0D8"/>
                </a:solidFill>
                <a:latin typeface="Calibri"/>
              </a:rPr>
              <a:t>SLM </a:t>
            </a:r>
            <a:r>
              <a:rPr sz="1300" b="0" dirty="0">
                <a:solidFill>
                  <a:srgbClr val="A0E0D8"/>
                </a:solidFill>
                <a:latin typeface="Calibri"/>
              </a:rPr>
              <a:t>Distilled Transformer (Encoder-Only)</a:t>
            </a:r>
          </a:p>
          <a:p>
            <a:pPr algn="l"/>
            <a:r>
              <a:rPr sz="1300" b="0" dirty="0">
                <a:solidFill>
                  <a:srgbClr val="A0E0D8"/>
                </a:solidFill>
                <a:latin typeface="Calibri"/>
              </a:rPr>
              <a:t>Scale:              ~66M Parameters</a:t>
            </a:r>
          </a:p>
          <a:p>
            <a:pPr algn="l"/>
            <a:r>
              <a:rPr sz="1300" b="0" dirty="0">
                <a:solidFill>
                  <a:srgbClr val="A0E0D8"/>
                </a:solidFill>
                <a:latin typeface="Calibri"/>
              </a:rPr>
              <a:t>Task Approach:  Supervised Fine-Tuning</a:t>
            </a:r>
          </a:p>
          <a:p>
            <a:pPr algn="l"/>
            <a:endParaRPr sz="1300" b="0" dirty="0">
              <a:solidFill>
                <a:srgbClr val="A0E0D8"/>
              </a:solidFill>
              <a:latin typeface="Calibri"/>
            </a:endParaRPr>
          </a:p>
          <a:p>
            <a:pPr algn="l"/>
            <a:r>
              <a:rPr sz="1300" b="0" dirty="0">
                <a:solidFill>
                  <a:srgbClr val="A0E0D8"/>
                </a:solidFill>
                <a:latin typeface="Calibri"/>
              </a:rPr>
              <a:t>Full fine-tuning on n labeled examples →</a:t>
            </a:r>
          </a:p>
          <a:p>
            <a:pPr algn="l"/>
            <a:r>
              <a:rPr sz="1300" b="0" dirty="0">
                <a:solidFill>
                  <a:srgbClr val="A0E0D8"/>
                </a:solidFill>
                <a:latin typeface="Calibri"/>
              </a:rPr>
              <a:t>weights update based on training data</a:t>
            </a:r>
            <a:r>
              <a:rPr lang="en-US" sz="1300" dirty="0">
                <a:solidFill>
                  <a:srgbClr val="A0E0D8"/>
                </a:solidFill>
                <a:latin typeface="Calibri"/>
              </a:rPr>
              <a:t>/labeled dataset examples (n)</a:t>
            </a:r>
            <a:endParaRPr sz="1300" b="0" dirty="0">
              <a:solidFill>
                <a:srgbClr val="A0E0D8"/>
              </a:solidFill>
              <a:latin typeface="Calibri"/>
            </a:endParaRPr>
          </a:p>
          <a:p>
            <a:pPr algn="l"/>
            <a:endParaRPr sz="1300" b="0" dirty="0">
              <a:solidFill>
                <a:srgbClr val="A0E0D8"/>
              </a:solidFill>
              <a:latin typeface="Calibri"/>
            </a:endParaRPr>
          </a:p>
          <a:p>
            <a:pPr algn="l"/>
            <a:r>
              <a:rPr sz="1300" b="0" dirty="0">
                <a:solidFill>
                  <a:srgbClr val="A0E0D8"/>
                </a:solidFill>
                <a:latin typeface="Calibri"/>
              </a:rPr>
              <a:t>Trained across n ∈ {50, 150, 300, 450,</a:t>
            </a:r>
          </a:p>
          <a:p>
            <a:pPr algn="l"/>
            <a:r>
              <a:rPr sz="1300" b="0" dirty="0">
                <a:solidFill>
                  <a:srgbClr val="A0E0D8"/>
                </a:solidFill>
                <a:latin typeface="Calibri"/>
              </a:rPr>
              <a:t>600, 750, 1000, 1200} training examples,</a:t>
            </a:r>
          </a:p>
          <a:p>
            <a:pPr algn="l"/>
            <a:r>
              <a:rPr sz="1300" b="0" dirty="0">
                <a:solidFill>
                  <a:srgbClr val="A0E0D8"/>
                </a:solidFill>
                <a:latin typeface="Calibri"/>
              </a:rPr>
              <a:t>averaged over 2–4 random seeds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59425" y="3154680"/>
            <a:ext cx="1097280" cy="10972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32120" y="32461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E293B"/>
                </a:solidFill>
                <a:latin typeface="Calibri"/>
              </a:rPr>
              <a:t>45%
smaller
60%
faster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0234B"/>
                </a:solidFill>
                <a:latin typeface="Calibri"/>
              </a:rPr>
              <a:t>Experiment Design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3385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794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234B"/>
                </a:solidFill>
                <a:latin typeface="Calibri"/>
              </a:rPr>
              <a:t>Key Experimental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297680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4297680"/>
            <a:ext cx="91440" cy="7315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Training Sizes (n):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45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50, 150, 300, 450, 600, 750, 1000, 1200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297680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4297680"/>
            <a:ext cx="91440" cy="7315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Few-Shot Shots (k):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645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12, 24, 36, 48, 60, 96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212080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5212080"/>
            <a:ext cx="91440" cy="7315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Trials: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559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2–4 random seeds averaged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5212080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5212080"/>
            <a:ext cx="91440" cy="7315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Metric: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559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Macro F1 Score on held-out test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234B"/>
                </a:solidFill>
                <a:latin typeface="Calibri"/>
              </a:rPr>
              <a:t>Results: GoEmotions — Primary Experiment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005840"/>
            <a:ext cx="44805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06640" y="1005840"/>
            <a:ext cx="4480560" cy="457200"/>
          </a:xfrm>
          <a:prstGeom prst="rect">
            <a:avLst/>
          </a:prstGeom>
          <a:solidFill>
            <a:srgbClr val="10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102412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600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Mistral Baseline: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F1 = 0.370 (k=36 shots)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331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DistilBERT @ n=50: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F1 = 0.041 — well below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0632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DistilBERT @ n=150: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F1 = 0.129 — still catching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794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DistilBERT @ n=450: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A825"/>
                </a:solidFill>
                <a:latin typeface="Calibri"/>
              </a:rPr>
              <a:t>F1 = 0.389 — crosses baseline!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526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DistilBERT @ n=600: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F1 = 0.511 — surges ahead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5257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Breakeven Point: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896"/>
                </a:solidFill>
                <a:latin typeface="Calibri"/>
              </a:rPr>
              <a:t>n ≈ 450 examples (37.5/class)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234B"/>
                </a:solidFill>
                <a:latin typeface="Calibri"/>
              </a:rPr>
              <a:t>Results: AG News — Easier Task, Different Pattern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005840"/>
            <a:ext cx="44805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06640" y="1005840"/>
            <a:ext cx="448056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102412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Insight: Task Complexity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600200"/>
            <a:ext cx="4206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AG News is a simpler 4-class task vs.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GoEmotions' complex 12-class emotion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classification.</a:t>
            </a:r>
          </a:p>
          <a:p>
            <a:pPr algn="l"/>
            <a:endParaRPr sz="1150" b="0">
              <a:solidFill>
                <a:srgbClr val="1E293B"/>
              </a:solidFill>
              <a:latin typeface="Calibri"/>
            </a:endParaRP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Mistral starts much higher (F1=0.87)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because topic classification requires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less nuanced understanding.</a:t>
            </a:r>
          </a:p>
          <a:p>
            <a:pPr algn="l"/>
            <a:endParaRPr sz="1150" b="0">
              <a:solidFill>
                <a:srgbClr val="1E293B"/>
              </a:solidFill>
              <a:latin typeface="Calibri"/>
            </a:endParaRP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DistilBERT quickly learns the topic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structure — F1 of 0.74 with only 100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training examples.</a:t>
            </a:r>
          </a:p>
          <a:p>
            <a:pPr algn="l"/>
            <a:endParaRPr sz="1150" b="0">
              <a:solidFill>
                <a:srgbClr val="1E293B"/>
              </a:solidFill>
              <a:latin typeface="Calibri"/>
            </a:endParaRP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Despite this, Mistral maintains its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lead through n=400, showing LLMs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excel at simple structured tasks.</a:t>
            </a:r>
          </a:p>
          <a:p>
            <a:pPr algn="l"/>
            <a:endParaRPr sz="1150" b="0">
              <a:solidFill>
                <a:srgbClr val="1E293B"/>
              </a:solidFill>
              <a:latin typeface="Calibri"/>
            </a:endParaRP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Breakeven: n &gt; 400 (not yet reached)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234B"/>
                </a:solidFill>
                <a:latin typeface="Calibri"/>
              </a:rPr>
              <a:t>Sensitivity Analysis: How k Interacts with 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00584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0" y="1005840"/>
            <a:ext cx="3657600" cy="457200"/>
          </a:xfrm>
          <a:prstGeom prst="rect">
            <a:avLst/>
          </a:prstGeom>
          <a:solidFill>
            <a:srgbClr val="10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10241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Observations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600200"/>
            <a:ext cx="3520440" cy="7772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75320" y="1600200"/>
            <a:ext cx="73152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2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More shots (k) = higher Mistral baseline, harder for DistilBERT to catch 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514600"/>
            <a:ext cx="3520440" cy="7772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2514600"/>
            <a:ext cx="73152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At k=12, breakeven is n≈150. At k=96, breakeven is n≈600+.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3429000"/>
            <a:ext cx="3520440" cy="7772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3429000"/>
            <a:ext cx="73152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347472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DistilBERT shows consistent learning curve regardless of 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4343400"/>
            <a:ext cx="3520440" cy="7772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4343400"/>
            <a:ext cx="73152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438912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Around n=750–1000, DistilBERT surpasses even the best Mistral k=96 baseline.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5257800"/>
            <a:ext cx="3520440" cy="7772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5257800"/>
            <a:ext cx="73152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530352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High-k prompting has diminishing returns — going from k=60 to k=96 yields minimal gain.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234B"/>
                </a:solidFill>
                <a:latin typeface="Calibri"/>
              </a:rPr>
              <a:t>Results: Generalization Across Emotion Subsets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6640" y="1005840"/>
            <a:ext cx="44805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06640" y="1005840"/>
            <a:ext cx="44805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102412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Generalization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60020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Pattern holds across both subsets:</a:t>
            </a:r>
          </a:p>
          <a:p>
            <a:pPr algn="l"/>
            <a:endParaRPr sz="1150" b="0">
              <a:solidFill>
                <a:srgbClr val="1E293B"/>
              </a:solidFill>
              <a:latin typeface="Calibri"/>
            </a:endParaRP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• Mistral consistently outperforms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  DistilBERT at low data regimes (n=50,150)</a:t>
            </a:r>
          </a:p>
          <a:p>
            <a:pPr algn="l"/>
            <a:endParaRPr sz="1150" b="0">
              <a:solidFill>
                <a:srgbClr val="1E293B"/>
              </a:solidFill>
              <a:latin typeface="Calibri"/>
            </a:endParaRP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• Both subsets show DistilBERT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  approaching Mistral around n=450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  — consistent with primary results</a:t>
            </a:r>
          </a:p>
          <a:p>
            <a:pPr algn="l"/>
            <a:endParaRPr sz="1150" b="0">
              <a:solidFill>
                <a:srgbClr val="1E293B"/>
              </a:solidFill>
              <a:latin typeface="Calibri"/>
            </a:endParaRP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• Negative emotions are harder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  — both models score lower overall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  on negative vs. positive subsets</a:t>
            </a:r>
          </a:p>
          <a:p>
            <a:pPr algn="l"/>
            <a:endParaRPr sz="1150" b="0">
              <a:solidFill>
                <a:srgbClr val="1E293B"/>
              </a:solidFill>
              <a:latin typeface="Calibri"/>
            </a:endParaRP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• Mixed/cognitive emotions show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  the highest task complexity and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  slowest DistilBERT convergence</a:t>
            </a:r>
          </a:p>
          <a:p>
            <a:pPr algn="l"/>
            <a:endParaRPr sz="1150" b="0">
              <a:solidFill>
                <a:srgbClr val="1E293B"/>
              </a:solidFill>
              <a:latin typeface="Calibri"/>
            </a:endParaRP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→ The Breakeven Point phenomenon</a:t>
            </a:r>
          </a:p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  is robust across emotion groupings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Summary: Breakeven Points Across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194560" cy="868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2801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234440"/>
            <a:ext cx="1645920" cy="868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24912" y="12801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Mistral
Baseline (F1)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1645920" cy="868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2801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DistilBERT
@ Breakeven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34440"/>
            <a:ext cx="1737360" cy="868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16752" y="1280160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Approx.
Breakeven 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234440"/>
            <a:ext cx="1737360" cy="868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54112" y="1280160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Task
Complexity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2194560" cy="868680"/>
          </a:xfrm>
          <a:prstGeom prst="rect">
            <a:avLst/>
          </a:prstGeom>
          <a:solidFill>
            <a:srgbClr val="18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214883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GoEmotions
(12 emotions)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103120"/>
            <a:ext cx="1645920" cy="868680"/>
          </a:xfrm>
          <a:prstGeom prst="rect">
            <a:avLst/>
          </a:prstGeom>
          <a:solidFill>
            <a:srgbClr val="18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24912" y="2148839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0.370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103120"/>
            <a:ext cx="1645920" cy="868680"/>
          </a:xfrm>
          <a:prstGeom prst="rect">
            <a:avLst/>
          </a:prstGeom>
          <a:solidFill>
            <a:srgbClr val="18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70832" y="2148839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0.389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103120"/>
            <a:ext cx="1737360" cy="868680"/>
          </a:xfrm>
          <a:prstGeom prst="rect">
            <a:avLst/>
          </a:prstGeom>
          <a:solidFill>
            <a:srgbClr val="18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16752" y="2148839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  <a:latin typeface="Calibri"/>
              </a:rPr>
              <a:t>~450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2103120"/>
            <a:ext cx="1737360" cy="868680"/>
          </a:xfrm>
          <a:prstGeom prst="rect">
            <a:avLst/>
          </a:prstGeom>
          <a:solidFill>
            <a:srgbClr val="18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4112" y="2148839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High (12 classes)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2194560" cy="86868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301752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F0"/>
                </a:solidFill>
                <a:latin typeface="Calibri"/>
              </a:rPr>
              <a:t>AG News
(4 topics)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971800"/>
            <a:ext cx="1645920" cy="86868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24912" y="301752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F0"/>
                </a:solidFill>
                <a:latin typeface="Calibri"/>
              </a:rPr>
              <a:t>0.870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2971800"/>
            <a:ext cx="1645920" cy="86868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70832" y="301752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F0"/>
                </a:solidFill>
                <a:latin typeface="Calibri"/>
              </a:rPr>
              <a:t>0.825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971800"/>
            <a:ext cx="1737360" cy="86868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16752" y="3017520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  <a:latin typeface="Calibri"/>
              </a:rPr>
              <a:t>&gt; 400
(not reached)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2971800"/>
            <a:ext cx="1737360" cy="86868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54112" y="3017520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F0"/>
                </a:solidFill>
                <a:latin typeface="Calibri"/>
              </a:rPr>
              <a:t>Low (4 classes)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840479"/>
            <a:ext cx="2194560" cy="868680"/>
          </a:xfrm>
          <a:prstGeom prst="rect">
            <a:avLst/>
          </a:prstGeom>
          <a:solidFill>
            <a:srgbClr val="18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388619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Positive Emotions
(12 labels)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3840479"/>
            <a:ext cx="1645920" cy="868680"/>
          </a:xfrm>
          <a:prstGeom prst="rect">
            <a:avLst/>
          </a:prstGeom>
          <a:solidFill>
            <a:srgbClr val="18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24912" y="3886199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0.401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3840479"/>
            <a:ext cx="1645920" cy="868680"/>
          </a:xfrm>
          <a:prstGeom prst="rect">
            <a:avLst/>
          </a:prstGeom>
          <a:solidFill>
            <a:srgbClr val="18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70832" y="3886199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0.347
@ n=450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3840479"/>
            <a:ext cx="1737360" cy="868680"/>
          </a:xfrm>
          <a:prstGeom prst="rect">
            <a:avLst/>
          </a:prstGeom>
          <a:solidFill>
            <a:srgbClr val="18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16752" y="3886199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  <a:latin typeface="Calibri"/>
              </a:rPr>
              <a:t>~450+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3840479"/>
            <a:ext cx="1737360" cy="868680"/>
          </a:xfrm>
          <a:prstGeom prst="rect">
            <a:avLst/>
          </a:prstGeom>
          <a:solidFill>
            <a:srgbClr val="18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54112" y="3886199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709160"/>
            <a:ext cx="2194560" cy="86868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47548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F0"/>
                </a:solidFill>
                <a:latin typeface="Calibri"/>
              </a:rPr>
              <a:t>Negative Emotions
(12 labels)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4709160"/>
            <a:ext cx="1645920" cy="86868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24912" y="47548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F0"/>
                </a:solidFill>
                <a:latin typeface="Calibri"/>
              </a:rPr>
              <a:t>0.431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4709160"/>
            <a:ext cx="1645920" cy="86868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70832" y="47548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F0"/>
                </a:solidFill>
                <a:latin typeface="Calibri"/>
              </a:rPr>
              <a:t>0.273
@ n=450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4709160"/>
            <a:ext cx="1737360" cy="86868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16752" y="4754880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  <a:latin typeface="Calibri"/>
              </a:rPr>
              <a:t>~600+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4709160"/>
            <a:ext cx="1737360" cy="86868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54112" y="4754880"/>
            <a:ext cx="16459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F0"/>
                </a:solidFill>
                <a:latin typeface="Calibri"/>
              </a:rPr>
              <a:t>Very 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623560"/>
            <a:ext cx="11155680" cy="9144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" y="5669280"/>
            <a:ext cx="109728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E293B"/>
                </a:solidFill>
                <a:latin typeface="Calibri"/>
              </a:rPr>
              <a:t>📌  Core Finding: The Breakeven Point is real and consistent — </a:t>
            </a:r>
            <a:r>
              <a:rPr sz="1300" b="1" i="0" dirty="0" err="1">
                <a:solidFill>
                  <a:srgbClr val="1E293B"/>
                </a:solidFill>
                <a:latin typeface="Calibri"/>
              </a:rPr>
              <a:t>DistilBERT</a:t>
            </a:r>
            <a:r>
              <a:rPr sz="1300" b="1" i="0" dirty="0">
                <a:solidFill>
                  <a:srgbClr val="1E293B"/>
                </a:solidFill>
                <a:latin typeface="Calibri"/>
              </a:rPr>
              <a:t> catches up to Mistral faster on simpler tasks. More data = bigger advantage for SLMs.</a:t>
            </a:r>
            <a:r>
              <a:rPr lang="en-US" sz="1300" b="1" i="0" dirty="0">
                <a:solidFill>
                  <a:srgbClr val="1E293B"/>
                </a:solidFill>
                <a:latin typeface="Calibri"/>
              </a:rPr>
              <a:t> The more labeled data we have, the more efficient it will be to use SLMs when compared to LLMs, even for highly complex tasks. A bit of finetuning and labeled data is all you need to scale this at much cheaper costs and get much more efficient outputs.</a:t>
            </a:r>
            <a:endParaRPr sz="1300" b="1" i="0" dirty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486400" cy="5212080"/>
          </a:xfrm>
          <a:prstGeom prst="rect">
            <a:avLst/>
          </a:prstGeom>
          <a:solidFill>
            <a:srgbClr val="0D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527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What We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Breakeven Point exists and is identifiable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0E0"/>
                </a:solidFill>
                <a:latin typeface="Calibri"/>
              </a:rPr>
              <a:t>For GoEmotions, it occurs around n ≈ 450 labeled examples.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Task complexity determines the crossover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0E0"/>
                </a:solidFill>
                <a:latin typeface="Calibri"/>
              </a:rPr>
              <a:t>Simpler tasks (AG News) keep LLMs dominant longer.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Pattern generalizes across emotion subsets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050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0E0"/>
                </a:solidFill>
                <a:latin typeface="Calibri"/>
              </a:rPr>
              <a:t>Both positive and negative subsets confirm the trend.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More shots (k) shifts the breakeven right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194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0E0"/>
                </a:solidFill>
                <a:latin typeface="Calibri"/>
              </a:rPr>
              <a:t>Harder to beat a well-prompted LLM — need more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A825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Practical implication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338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0E0"/>
                </a:solidFill>
                <a:latin typeface="Calibri"/>
              </a:rPr>
              <a:t>If you can label ~450 examples, fine-tune. If not, prompt.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234440"/>
            <a:ext cx="5577840" cy="2377440"/>
          </a:xfrm>
          <a:prstGeom prst="rect">
            <a:avLst/>
          </a:prstGeom>
          <a:solidFill>
            <a:srgbClr val="14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2527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78308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8F0"/>
                </a:solidFill>
                <a:latin typeface="Calibri"/>
              </a:rPr>
              <a:t>• Small test sets used for speed (n=10–30 / class)</a:t>
            </a:r>
          </a:p>
          <a:p>
            <a:pPr algn="l"/>
            <a:r>
              <a:rPr sz="1200" b="0">
                <a:solidFill>
                  <a:srgbClr val="C8D8F0"/>
                </a:solidFill>
                <a:latin typeface="Calibri"/>
              </a:rPr>
              <a:t>• GoEmotions subset is 12/27 classes only</a:t>
            </a:r>
          </a:p>
          <a:p>
            <a:pPr algn="l"/>
            <a:r>
              <a:rPr sz="1200" b="0">
                <a:solidFill>
                  <a:srgbClr val="C8D8F0"/>
                </a:solidFill>
                <a:latin typeface="Calibri"/>
              </a:rPr>
              <a:t>• SNLI &amp; CoLA pipelines in progress</a:t>
            </a:r>
          </a:p>
          <a:p>
            <a:pPr algn="l"/>
            <a:r>
              <a:rPr sz="1200" b="0">
                <a:solidFill>
                  <a:srgbClr val="C8D8F0"/>
                </a:solidFill>
                <a:latin typeface="Calibri"/>
              </a:rPr>
              <a:t>• Results may vary with different LLMs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94760"/>
            <a:ext cx="5577840" cy="2651760"/>
          </a:xfrm>
          <a:prstGeom prst="rect">
            <a:avLst/>
          </a:prstGeom>
          <a:solidFill>
            <a:srgbClr val="01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794760"/>
            <a:ext cx="557784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8130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43400"/>
            <a:ext cx="521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A0E0D8"/>
                </a:solidFill>
                <a:latin typeface="Calibri"/>
              </a:rPr>
              <a:t>• Extend to SNLI (NLI) and </a:t>
            </a:r>
            <a:r>
              <a:rPr sz="1200" b="0" dirty="0" err="1">
                <a:solidFill>
                  <a:srgbClr val="A0E0D8"/>
                </a:solidFill>
                <a:latin typeface="Calibri"/>
              </a:rPr>
              <a:t>CoLA</a:t>
            </a:r>
            <a:r>
              <a:rPr sz="1200" b="0" dirty="0">
                <a:solidFill>
                  <a:srgbClr val="A0E0D8"/>
                </a:solidFill>
                <a:latin typeface="Calibri"/>
              </a:rPr>
              <a:t> (grammaticality)</a:t>
            </a:r>
            <a:r>
              <a:rPr lang="en-US" sz="1200" b="0" dirty="0">
                <a:solidFill>
                  <a:srgbClr val="A0E0D8"/>
                </a:solidFill>
                <a:latin typeface="Calibri"/>
              </a:rPr>
              <a:t> – this is much</a:t>
            </a:r>
            <a:endParaRPr sz="1200" b="0" dirty="0">
              <a:solidFill>
                <a:srgbClr val="A0E0D8"/>
              </a:solidFill>
              <a:latin typeface="Calibri"/>
            </a:endParaRPr>
          </a:p>
          <a:p>
            <a:pPr algn="l"/>
            <a:r>
              <a:rPr sz="1200" b="0" dirty="0">
                <a:solidFill>
                  <a:srgbClr val="A0E0D8"/>
                </a:solidFill>
                <a:latin typeface="Calibri"/>
              </a:rPr>
              <a:t>• Test with </a:t>
            </a:r>
            <a:r>
              <a:rPr sz="1200" b="0" dirty="0" err="1">
                <a:solidFill>
                  <a:srgbClr val="A0E0D8"/>
                </a:solidFill>
                <a:latin typeface="Calibri"/>
              </a:rPr>
              <a:t>LoRA</a:t>
            </a:r>
            <a:r>
              <a:rPr sz="1200" b="0" dirty="0">
                <a:solidFill>
                  <a:srgbClr val="A0E0D8"/>
                </a:solidFill>
                <a:latin typeface="Calibri"/>
              </a:rPr>
              <a:t> / PEFT instead of full fine-tuning</a:t>
            </a:r>
          </a:p>
          <a:p>
            <a:pPr algn="l"/>
            <a:r>
              <a:rPr sz="1200" b="0" dirty="0">
                <a:solidFill>
                  <a:srgbClr val="A0E0D8"/>
                </a:solidFill>
                <a:latin typeface="Calibri"/>
              </a:rPr>
              <a:t>• Explore quantized LLMs for fairer cost comparison</a:t>
            </a:r>
          </a:p>
          <a:p>
            <a:pPr algn="l"/>
            <a:r>
              <a:rPr sz="1200" b="0" dirty="0">
                <a:solidFill>
                  <a:srgbClr val="A0E0D8"/>
                </a:solidFill>
                <a:latin typeface="Calibri"/>
              </a:rPr>
              <a:t>• Build a cost-aware Breakeven calculator</a:t>
            </a:r>
            <a:r>
              <a:rPr lang="en-US" sz="1200" b="0" dirty="0">
                <a:solidFill>
                  <a:srgbClr val="A0E0D8"/>
                </a:solidFill>
                <a:latin typeface="Calibri"/>
              </a:rPr>
              <a:t> to show the real implications and integrations of such SLM models instead of LLMs to make it cheaper and more efficient. </a:t>
            </a:r>
            <a:r>
              <a:rPr lang="en-US" sz="1200" dirty="0">
                <a:solidFill>
                  <a:srgbClr val="A0E0D8"/>
                </a:solidFill>
                <a:latin typeface="Calibri"/>
              </a:rPr>
              <a:t>2 birds 1 stone.</a:t>
            </a:r>
            <a:endParaRPr sz="1200" b="0" dirty="0">
              <a:solidFill>
                <a:srgbClr val="A0E0D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657600"/>
            <a:ext cx="6675120" cy="45720"/>
          </a:xfrm>
          <a:prstGeom prst="rect">
            <a:avLst/>
          </a:prstGeom>
          <a:solidFill>
            <a:srgbClr val="3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C0E0"/>
                </a:solidFill>
                <a:latin typeface="Calibri"/>
              </a:rPr>
              <a:t>Tathya Shah  ·  tts49@scarletmail.rutgers.edu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0C0E0"/>
                </a:solidFill>
                <a:latin typeface="Calibri"/>
              </a:rPr>
              <a:t>Dev Shah  ·  djs525@scarletmail.rutgers.edu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45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64748B"/>
                </a:solidFill>
                <a:latin typeface="Calibri"/>
              </a:rPr>
              <a:t>Rutgers University  ·  NLP Final Project  ·  Spring 202</a:t>
            </a:r>
            <a:r>
              <a:rPr lang="en-US" sz="1300" b="0" i="0" dirty="0">
                <a:solidFill>
                  <a:srgbClr val="64748B"/>
                </a:solidFill>
                <a:latin typeface="Calibri"/>
              </a:rPr>
              <a:t>6</a:t>
            </a:r>
            <a:endParaRPr sz="13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7090"/>
                </a:solidFill>
                <a:latin typeface="Calibri"/>
              </a:rPr>
              <a:t>Models: mistralai/Mistral-7B-Instruct-v0.2  ·  distilbert-base-uncased  ·  Dataset: go_emotions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1406</Words>
  <Application>Microsoft Macintosh PowerPoint</Application>
  <PresentationFormat>Custom</PresentationFormat>
  <Paragraphs>233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Tathya Shah Shah</cp:lastModifiedBy>
  <cp:revision>2</cp:revision>
  <dcterms:created xsi:type="dcterms:W3CDTF">2013-01-27T09:14:16Z</dcterms:created>
  <dcterms:modified xsi:type="dcterms:W3CDTF">2026-04-27T19:31:24Z</dcterms:modified>
  <cp:category/>
</cp:coreProperties>
</file>